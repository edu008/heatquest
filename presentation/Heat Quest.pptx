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11" d="100"/>
          <a:sy n="11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017B33-85D1-4B29-9A00-0A17ED07E6D3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58C43B-6599-4B02-AE6B-AC29BCDCFB98}">
      <dgm:prSet/>
      <dgm:spPr/>
      <dgm:t>
        <a:bodyPr/>
        <a:lstStyle/>
        <a:p>
          <a:r>
            <a:rPr lang="en-US" b="0" i="0" baseline="0"/>
            <a:t>HeatQuest is a mobile app that turns citizens into climate activists.</a:t>
          </a:r>
          <a:endParaRPr lang="en-US"/>
        </a:p>
      </dgm:t>
    </dgm:pt>
    <dgm:pt modelId="{8DB995E8-82C0-4E62-BCAE-C3CD9D4E0EAC}" type="parTrans" cxnId="{9F097CBD-7F5C-4E72-AB99-727BA2FFB79F}">
      <dgm:prSet/>
      <dgm:spPr/>
      <dgm:t>
        <a:bodyPr/>
        <a:lstStyle/>
        <a:p>
          <a:endParaRPr lang="en-US"/>
        </a:p>
      </dgm:t>
    </dgm:pt>
    <dgm:pt modelId="{F0D18137-7E6B-4BB9-823C-71BCC5067EB6}" type="sibTrans" cxnId="{9F097CBD-7F5C-4E72-AB99-727BA2FFB79F}">
      <dgm:prSet/>
      <dgm:spPr/>
      <dgm:t>
        <a:bodyPr/>
        <a:lstStyle/>
        <a:p>
          <a:endParaRPr lang="en-US"/>
        </a:p>
      </dgm:t>
    </dgm:pt>
    <dgm:pt modelId="{374A86F9-208C-4717-B875-A95D37DB8441}">
      <dgm:prSet/>
      <dgm:spPr/>
      <dgm:t>
        <a:bodyPr/>
        <a:lstStyle/>
        <a:p>
          <a:r>
            <a:rPr lang="en-US" b="1" i="0" baseline="0"/>
            <a:t>DETECT:</a:t>
          </a:r>
          <a:r>
            <a:rPr lang="en-US" b="0" i="0" baseline="0"/>
            <a:t> A user scans any location. Our </a:t>
          </a:r>
          <a:r>
            <a:rPr lang="en-US" b="1" i="0" baseline="0"/>
            <a:t>FastAPI</a:t>
          </a:r>
          <a:r>
            <a:rPr lang="en-US" b="0" i="0" baseline="0"/>
            <a:t> backend performs a live analysis, pulling </a:t>
          </a:r>
          <a:r>
            <a:rPr lang="en-US" b="1" i="0" baseline="0"/>
            <a:t>Landsat</a:t>
          </a:r>
          <a:r>
            <a:rPr lang="en-US" b="0" i="0" baseline="0"/>
            <a:t> (Temperature) and </a:t>
          </a:r>
          <a:r>
            <a:rPr lang="en-US" b="1" i="0" baseline="0"/>
            <a:t>Sentinel-2</a:t>
          </a:r>
          <a:r>
            <a:rPr lang="en-US" b="0" i="0" baseline="0"/>
            <a:t> (Vegetation) data.</a:t>
          </a:r>
          <a:endParaRPr lang="en-US"/>
        </a:p>
      </dgm:t>
    </dgm:pt>
    <dgm:pt modelId="{86F73B89-5BAE-48EB-9E39-0930FD73DA6F}" type="parTrans" cxnId="{12EF5FE6-52A5-47D1-8828-63E52B8F03F4}">
      <dgm:prSet/>
      <dgm:spPr/>
      <dgm:t>
        <a:bodyPr/>
        <a:lstStyle/>
        <a:p>
          <a:endParaRPr lang="en-US"/>
        </a:p>
      </dgm:t>
    </dgm:pt>
    <dgm:pt modelId="{6308FEE7-6A96-4022-8637-0EB3156D3A70}" type="sibTrans" cxnId="{12EF5FE6-52A5-47D1-8828-63E52B8F03F4}">
      <dgm:prSet/>
      <dgm:spPr/>
      <dgm:t>
        <a:bodyPr/>
        <a:lstStyle/>
        <a:p>
          <a:endParaRPr lang="en-US"/>
        </a:p>
      </dgm:t>
    </dgm:pt>
    <dgm:pt modelId="{2B8AD513-EDEC-4033-B339-62940A6BA829}">
      <dgm:prSet/>
      <dgm:spPr/>
      <dgm:t>
        <a:bodyPr/>
        <a:lstStyle/>
        <a:p>
          <a:r>
            <a:rPr lang="en-US" b="1" i="0" baseline="0"/>
            <a:t>CALCULATE:</a:t>
          </a:r>
          <a:r>
            <a:rPr lang="en-US" b="0" i="0" baseline="0"/>
            <a:t> Our Python pipeline creates a high-res grid and calculates a scientific heat_score (Temp - [0.3 * NDVI]) for every cell.</a:t>
          </a:r>
          <a:endParaRPr lang="en-US"/>
        </a:p>
      </dgm:t>
    </dgm:pt>
    <dgm:pt modelId="{584867FE-B2A6-4465-B192-10BD223C2397}" type="parTrans" cxnId="{7C4BC803-CD96-450B-8247-DA5E97515B6C}">
      <dgm:prSet/>
      <dgm:spPr/>
      <dgm:t>
        <a:bodyPr/>
        <a:lstStyle/>
        <a:p>
          <a:endParaRPr lang="en-US"/>
        </a:p>
      </dgm:t>
    </dgm:pt>
    <dgm:pt modelId="{1925E6AC-0062-4043-959E-C81FEF57CD04}" type="sibTrans" cxnId="{7C4BC803-CD96-450B-8247-DA5E97515B6C}">
      <dgm:prSet/>
      <dgm:spPr/>
      <dgm:t>
        <a:bodyPr/>
        <a:lstStyle/>
        <a:p>
          <a:endParaRPr lang="en-US"/>
        </a:p>
      </dgm:t>
    </dgm:pt>
    <dgm:pt modelId="{50DE2D15-8E70-4CF5-8646-730A52A31D4F}">
      <dgm:prSet/>
      <dgm:spPr/>
      <dgm:t>
        <a:bodyPr/>
        <a:lstStyle/>
        <a:p>
          <a:r>
            <a:rPr lang="en-US" b="1" i="0" baseline="0"/>
            <a:t>ANALYZE:</a:t>
          </a:r>
          <a:r>
            <a:rPr lang="en-US" b="0" i="0" baseline="0"/>
            <a:t> The data is fed to </a:t>
          </a:r>
          <a:r>
            <a:rPr lang="en-US" b="1" i="0" baseline="0"/>
            <a:t>Vertex AI (Gemini)</a:t>
          </a:r>
          <a:r>
            <a:rPr lang="en-US" b="0" i="0" baseline="0"/>
            <a:t>, which analyzes </a:t>
          </a:r>
          <a:r>
            <a:rPr lang="en-US" b="0" i="1" baseline="0"/>
            <a:t>why</a:t>
          </a:r>
          <a:r>
            <a:rPr lang="en-US" b="0" i="0" baseline="0"/>
            <a:t> it's a hotspot (e.g., "paved surface").</a:t>
          </a:r>
          <a:endParaRPr lang="en-US"/>
        </a:p>
      </dgm:t>
    </dgm:pt>
    <dgm:pt modelId="{28C8C50B-752D-4B34-A6FD-D3FAB3A93236}" type="parTrans" cxnId="{0FA6BEC3-517C-46B7-B39C-69093F611EC0}">
      <dgm:prSet/>
      <dgm:spPr/>
      <dgm:t>
        <a:bodyPr/>
        <a:lstStyle/>
        <a:p>
          <a:endParaRPr lang="en-US"/>
        </a:p>
      </dgm:t>
    </dgm:pt>
    <dgm:pt modelId="{D4E53B2C-3533-4AF6-A345-EF6830276620}" type="sibTrans" cxnId="{0FA6BEC3-517C-46B7-B39C-69093F611EC0}">
      <dgm:prSet/>
      <dgm:spPr/>
      <dgm:t>
        <a:bodyPr/>
        <a:lstStyle/>
        <a:p>
          <a:endParaRPr lang="en-US"/>
        </a:p>
      </dgm:t>
    </dgm:pt>
    <dgm:pt modelId="{1DA59E40-E910-4D29-B454-B0413C218B39}">
      <dgm:prSet/>
      <dgm:spPr/>
      <dgm:t>
        <a:bodyPr/>
        <a:lstStyle/>
        <a:p>
          <a:r>
            <a:rPr lang="en-US" b="1" i="0" baseline="0"/>
            <a:t>ACT:</a:t>
          </a:r>
          <a:r>
            <a:rPr lang="en-US" b="0" i="0" baseline="0"/>
            <a:t> The AI generates a "climate mission" (e.g., "Asphalt Avenger!") which is saved to our </a:t>
          </a:r>
          <a:r>
            <a:rPr lang="en-US" b="1" i="0" baseline="0"/>
            <a:t>Supabase</a:t>
          </a:r>
          <a:r>
            <a:rPr lang="en-US" b="0" i="0" baseline="0"/>
            <a:t> database for the user to complete.</a:t>
          </a:r>
          <a:endParaRPr lang="en-US"/>
        </a:p>
      </dgm:t>
    </dgm:pt>
    <dgm:pt modelId="{DA7B6904-3135-480B-8B65-F919DFF891F7}" type="parTrans" cxnId="{9D7438E7-B730-469F-879A-3F839D6BE2E2}">
      <dgm:prSet/>
      <dgm:spPr/>
      <dgm:t>
        <a:bodyPr/>
        <a:lstStyle/>
        <a:p>
          <a:endParaRPr lang="en-US"/>
        </a:p>
      </dgm:t>
    </dgm:pt>
    <dgm:pt modelId="{C719F018-2D0E-48C1-B4D6-D59070CD2D34}" type="sibTrans" cxnId="{9D7438E7-B730-469F-879A-3F839D6BE2E2}">
      <dgm:prSet/>
      <dgm:spPr/>
      <dgm:t>
        <a:bodyPr/>
        <a:lstStyle/>
        <a:p>
          <a:endParaRPr lang="en-US"/>
        </a:p>
      </dgm:t>
    </dgm:pt>
    <dgm:pt modelId="{DC2C2A3D-FF4E-EC44-B60A-9B1314842CFA}" type="pres">
      <dgm:prSet presAssocID="{AA017B33-85D1-4B29-9A00-0A17ED07E6D3}" presName="Name0" presStyleCnt="0">
        <dgm:presLayoutVars>
          <dgm:dir/>
          <dgm:resizeHandles val="exact"/>
        </dgm:presLayoutVars>
      </dgm:prSet>
      <dgm:spPr/>
    </dgm:pt>
    <dgm:pt modelId="{5D0AEEEF-C5E6-5444-B7E3-68D187187991}" type="pres">
      <dgm:prSet presAssocID="{8458C43B-6599-4B02-AE6B-AC29BCDCFB98}" presName="node" presStyleLbl="node1" presStyleIdx="0" presStyleCnt="5">
        <dgm:presLayoutVars>
          <dgm:bulletEnabled val="1"/>
        </dgm:presLayoutVars>
      </dgm:prSet>
      <dgm:spPr/>
    </dgm:pt>
    <dgm:pt modelId="{F33850C6-BE56-AD41-A616-61E07BA706FA}" type="pres">
      <dgm:prSet presAssocID="{F0D18137-7E6B-4BB9-823C-71BCC5067EB6}" presName="sibTrans" presStyleLbl="sibTrans2D1" presStyleIdx="0" presStyleCnt="4"/>
      <dgm:spPr/>
    </dgm:pt>
    <dgm:pt modelId="{2851F9BE-D1DA-4B4D-A9D8-633D49990E09}" type="pres">
      <dgm:prSet presAssocID="{F0D18137-7E6B-4BB9-823C-71BCC5067EB6}" presName="connectorText" presStyleLbl="sibTrans2D1" presStyleIdx="0" presStyleCnt="4"/>
      <dgm:spPr/>
    </dgm:pt>
    <dgm:pt modelId="{2B565A69-BC16-D24D-B365-38C062BE30FC}" type="pres">
      <dgm:prSet presAssocID="{374A86F9-208C-4717-B875-A95D37DB8441}" presName="node" presStyleLbl="node1" presStyleIdx="1" presStyleCnt="5">
        <dgm:presLayoutVars>
          <dgm:bulletEnabled val="1"/>
        </dgm:presLayoutVars>
      </dgm:prSet>
      <dgm:spPr/>
    </dgm:pt>
    <dgm:pt modelId="{16FFB47C-0795-8949-9334-EE6E0E254F2E}" type="pres">
      <dgm:prSet presAssocID="{6308FEE7-6A96-4022-8637-0EB3156D3A70}" presName="sibTrans" presStyleLbl="sibTrans2D1" presStyleIdx="1" presStyleCnt="4"/>
      <dgm:spPr/>
    </dgm:pt>
    <dgm:pt modelId="{E603526D-BB12-AD4A-862B-195E6D3E3B6E}" type="pres">
      <dgm:prSet presAssocID="{6308FEE7-6A96-4022-8637-0EB3156D3A70}" presName="connectorText" presStyleLbl="sibTrans2D1" presStyleIdx="1" presStyleCnt="4"/>
      <dgm:spPr/>
    </dgm:pt>
    <dgm:pt modelId="{A30FD74A-BE53-374B-94F6-662140CBB658}" type="pres">
      <dgm:prSet presAssocID="{2B8AD513-EDEC-4033-B339-62940A6BA829}" presName="node" presStyleLbl="node1" presStyleIdx="2" presStyleCnt="5">
        <dgm:presLayoutVars>
          <dgm:bulletEnabled val="1"/>
        </dgm:presLayoutVars>
      </dgm:prSet>
      <dgm:spPr/>
    </dgm:pt>
    <dgm:pt modelId="{38458C21-545B-864A-88F6-CDAB12697035}" type="pres">
      <dgm:prSet presAssocID="{1925E6AC-0062-4043-959E-C81FEF57CD04}" presName="sibTrans" presStyleLbl="sibTrans2D1" presStyleIdx="2" presStyleCnt="4"/>
      <dgm:spPr/>
    </dgm:pt>
    <dgm:pt modelId="{1AA1285C-550E-EB48-AE0D-DE1562E224AD}" type="pres">
      <dgm:prSet presAssocID="{1925E6AC-0062-4043-959E-C81FEF57CD04}" presName="connectorText" presStyleLbl="sibTrans2D1" presStyleIdx="2" presStyleCnt="4"/>
      <dgm:spPr/>
    </dgm:pt>
    <dgm:pt modelId="{42ABC28C-D74F-9B4B-9D11-B89D6BB2B183}" type="pres">
      <dgm:prSet presAssocID="{50DE2D15-8E70-4CF5-8646-730A52A31D4F}" presName="node" presStyleLbl="node1" presStyleIdx="3" presStyleCnt="5">
        <dgm:presLayoutVars>
          <dgm:bulletEnabled val="1"/>
        </dgm:presLayoutVars>
      </dgm:prSet>
      <dgm:spPr/>
    </dgm:pt>
    <dgm:pt modelId="{A9B2DC37-008C-D44F-BF09-D8FB77B5979B}" type="pres">
      <dgm:prSet presAssocID="{D4E53B2C-3533-4AF6-A345-EF6830276620}" presName="sibTrans" presStyleLbl="sibTrans2D1" presStyleIdx="3" presStyleCnt="4"/>
      <dgm:spPr/>
    </dgm:pt>
    <dgm:pt modelId="{A99CBB33-AFA3-1F45-BC96-15CBED97C649}" type="pres">
      <dgm:prSet presAssocID="{D4E53B2C-3533-4AF6-A345-EF6830276620}" presName="connectorText" presStyleLbl="sibTrans2D1" presStyleIdx="3" presStyleCnt="4"/>
      <dgm:spPr/>
    </dgm:pt>
    <dgm:pt modelId="{7F1E47C3-0646-C941-A5F6-EE5A3C6CA70E}" type="pres">
      <dgm:prSet presAssocID="{1DA59E40-E910-4D29-B454-B0413C218B39}" presName="node" presStyleLbl="node1" presStyleIdx="4" presStyleCnt="5">
        <dgm:presLayoutVars>
          <dgm:bulletEnabled val="1"/>
        </dgm:presLayoutVars>
      </dgm:prSet>
      <dgm:spPr/>
    </dgm:pt>
  </dgm:ptLst>
  <dgm:cxnLst>
    <dgm:cxn modelId="{7C4BC803-CD96-450B-8247-DA5E97515B6C}" srcId="{AA017B33-85D1-4B29-9A00-0A17ED07E6D3}" destId="{2B8AD513-EDEC-4033-B339-62940A6BA829}" srcOrd="2" destOrd="0" parTransId="{584867FE-B2A6-4465-B192-10BD223C2397}" sibTransId="{1925E6AC-0062-4043-959E-C81FEF57CD04}"/>
    <dgm:cxn modelId="{FA255106-F897-6544-9AA1-9F86C502DAF4}" type="presOf" srcId="{8458C43B-6599-4B02-AE6B-AC29BCDCFB98}" destId="{5D0AEEEF-C5E6-5444-B7E3-68D187187991}" srcOrd="0" destOrd="0" presId="urn:microsoft.com/office/officeart/2005/8/layout/process1"/>
    <dgm:cxn modelId="{3E93AB25-8EAD-DC4F-AD1E-5DAF8BA4EC8A}" type="presOf" srcId="{1925E6AC-0062-4043-959E-C81FEF57CD04}" destId="{38458C21-545B-864A-88F6-CDAB12697035}" srcOrd="0" destOrd="0" presId="urn:microsoft.com/office/officeart/2005/8/layout/process1"/>
    <dgm:cxn modelId="{73690F2E-D3E9-924F-8602-3266F4E10765}" type="presOf" srcId="{D4E53B2C-3533-4AF6-A345-EF6830276620}" destId="{A99CBB33-AFA3-1F45-BC96-15CBED97C649}" srcOrd="1" destOrd="0" presId="urn:microsoft.com/office/officeart/2005/8/layout/process1"/>
    <dgm:cxn modelId="{CCA2953A-8900-4C41-971B-A6D99F78E1D6}" type="presOf" srcId="{1DA59E40-E910-4D29-B454-B0413C218B39}" destId="{7F1E47C3-0646-C941-A5F6-EE5A3C6CA70E}" srcOrd="0" destOrd="0" presId="urn:microsoft.com/office/officeart/2005/8/layout/process1"/>
    <dgm:cxn modelId="{F5140343-31AD-9D4D-8BD8-4EF483FC9DBF}" type="presOf" srcId="{6308FEE7-6A96-4022-8637-0EB3156D3A70}" destId="{E603526D-BB12-AD4A-862B-195E6D3E3B6E}" srcOrd="1" destOrd="0" presId="urn:microsoft.com/office/officeart/2005/8/layout/process1"/>
    <dgm:cxn modelId="{3005764C-FD57-6943-AC32-D141BE83EDDD}" type="presOf" srcId="{D4E53B2C-3533-4AF6-A345-EF6830276620}" destId="{A9B2DC37-008C-D44F-BF09-D8FB77B5979B}" srcOrd="0" destOrd="0" presId="urn:microsoft.com/office/officeart/2005/8/layout/process1"/>
    <dgm:cxn modelId="{1D33975B-2019-B84F-84C9-34D8155F324F}" type="presOf" srcId="{F0D18137-7E6B-4BB9-823C-71BCC5067EB6}" destId="{F33850C6-BE56-AD41-A616-61E07BA706FA}" srcOrd="0" destOrd="0" presId="urn:microsoft.com/office/officeart/2005/8/layout/process1"/>
    <dgm:cxn modelId="{81C9F35D-8A3A-2A4B-91D8-0CBA8983D1FB}" type="presOf" srcId="{50DE2D15-8E70-4CF5-8646-730A52A31D4F}" destId="{42ABC28C-D74F-9B4B-9D11-B89D6BB2B183}" srcOrd="0" destOrd="0" presId="urn:microsoft.com/office/officeart/2005/8/layout/process1"/>
    <dgm:cxn modelId="{C9DC426E-990F-E545-B491-3B698AC1E658}" type="presOf" srcId="{374A86F9-208C-4717-B875-A95D37DB8441}" destId="{2B565A69-BC16-D24D-B365-38C062BE30FC}" srcOrd="0" destOrd="0" presId="urn:microsoft.com/office/officeart/2005/8/layout/process1"/>
    <dgm:cxn modelId="{90D99372-6560-974B-9731-41FAE4409D50}" type="presOf" srcId="{2B8AD513-EDEC-4033-B339-62940A6BA829}" destId="{A30FD74A-BE53-374B-94F6-662140CBB658}" srcOrd="0" destOrd="0" presId="urn:microsoft.com/office/officeart/2005/8/layout/process1"/>
    <dgm:cxn modelId="{FEAD867B-6DEC-714C-BAA1-D6EDCF83C405}" type="presOf" srcId="{6308FEE7-6A96-4022-8637-0EB3156D3A70}" destId="{16FFB47C-0795-8949-9334-EE6E0E254F2E}" srcOrd="0" destOrd="0" presId="urn:microsoft.com/office/officeart/2005/8/layout/process1"/>
    <dgm:cxn modelId="{9D8406BD-73FA-C44D-A229-0036FBEEC478}" type="presOf" srcId="{1925E6AC-0062-4043-959E-C81FEF57CD04}" destId="{1AA1285C-550E-EB48-AE0D-DE1562E224AD}" srcOrd="1" destOrd="0" presId="urn:microsoft.com/office/officeart/2005/8/layout/process1"/>
    <dgm:cxn modelId="{9F097CBD-7F5C-4E72-AB99-727BA2FFB79F}" srcId="{AA017B33-85D1-4B29-9A00-0A17ED07E6D3}" destId="{8458C43B-6599-4B02-AE6B-AC29BCDCFB98}" srcOrd="0" destOrd="0" parTransId="{8DB995E8-82C0-4E62-BCAE-C3CD9D4E0EAC}" sibTransId="{F0D18137-7E6B-4BB9-823C-71BCC5067EB6}"/>
    <dgm:cxn modelId="{0FA6BEC3-517C-46B7-B39C-69093F611EC0}" srcId="{AA017B33-85D1-4B29-9A00-0A17ED07E6D3}" destId="{50DE2D15-8E70-4CF5-8646-730A52A31D4F}" srcOrd="3" destOrd="0" parTransId="{28C8C50B-752D-4B34-A6FD-D3FAB3A93236}" sibTransId="{D4E53B2C-3533-4AF6-A345-EF6830276620}"/>
    <dgm:cxn modelId="{12EF5FE6-52A5-47D1-8828-63E52B8F03F4}" srcId="{AA017B33-85D1-4B29-9A00-0A17ED07E6D3}" destId="{374A86F9-208C-4717-B875-A95D37DB8441}" srcOrd="1" destOrd="0" parTransId="{86F73B89-5BAE-48EB-9E39-0930FD73DA6F}" sibTransId="{6308FEE7-6A96-4022-8637-0EB3156D3A70}"/>
    <dgm:cxn modelId="{9D7438E7-B730-469F-879A-3F839D6BE2E2}" srcId="{AA017B33-85D1-4B29-9A00-0A17ED07E6D3}" destId="{1DA59E40-E910-4D29-B454-B0413C218B39}" srcOrd="4" destOrd="0" parTransId="{DA7B6904-3135-480B-8B65-F919DFF891F7}" sibTransId="{C719F018-2D0E-48C1-B4D6-D59070CD2D34}"/>
    <dgm:cxn modelId="{518C11EC-171D-3545-B272-1996848C4710}" type="presOf" srcId="{AA017B33-85D1-4B29-9A00-0A17ED07E6D3}" destId="{DC2C2A3D-FF4E-EC44-B60A-9B1314842CFA}" srcOrd="0" destOrd="0" presId="urn:microsoft.com/office/officeart/2005/8/layout/process1"/>
    <dgm:cxn modelId="{41425AEE-26F1-D742-8020-E4E67EC5435C}" type="presOf" srcId="{F0D18137-7E6B-4BB9-823C-71BCC5067EB6}" destId="{2851F9BE-D1DA-4B4D-A9D8-633D49990E09}" srcOrd="1" destOrd="0" presId="urn:microsoft.com/office/officeart/2005/8/layout/process1"/>
    <dgm:cxn modelId="{C0ADDB9A-80FE-B144-89D5-678F7A1C3B9A}" type="presParOf" srcId="{DC2C2A3D-FF4E-EC44-B60A-9B1314842CFA}" destId="{5D0AEEEF-C5E6-5444-B7E3-68D187187991}" srcOrd="0" destOrd="0" presId="urn:microsoft.com/office/officeart/2005/8/layout/process1"/>
    <dgm:cxn modelId="{85C403C4-8046-1A45-92BF-1597F32E82F1}" type="presParOf" srcId="{DC2C2A3D-FF4E-EC44-B60A-9B1314842CFA}" destId="{F33850C6-BE56-AD41-A616-61E07BA706FA}" srcOrd="1" destOrd="0" presId="urn:microsoft.com/office/officeart/2005/8/layout/process1"/>
    <dgm:cxn modelId="{480EAFC5-483C-C345-A097-185C62D413A0}" type="presParOf" srcId="{F33850C6-BE56-AD41-A616-61E07BA706FA}" destId="{2851F9BE-D1DA-4B4D-A9D8-633D49990E09}" srcOrd="0" destOrd="0" presId="urn:microsoft.com/office/officeart/2005/8/layout/process1"/>
    <dgm:cxn modelId="{8D67E6BF-FCA8-9146-8536-83B71E571334}" type="presParOf" srcId="{DC2C2A3D-FF4E-EC44-B60A-9B1314842CFA}" destId="{2B565A69-BC16-D24D-B365-38C062BE30FC}" srcOrd="2" destOrd="0" presId="urn:microsoft.com/office/officeart/2005/8/layout/process1"/>
    <dgm:cxn modelId="{823F973D-3F5D-844E-AFC3-99A914AB8AEB}" type="presParOf" srcId="{DC2C2A3D-FF4E-EC44-B60A-9B1314842CFA}" destId="{16FFB47C-0795-8949-9334-EE6E0E254F2E}" srcOrd="3" destOrd="0" presId="urn:microsoft.com/office/officeart/2005/8/layout/process1"/>
    <dgm:cxn modelId="{BB90FE65-CCF3-C04C-80BE-A7268E95C500}" type="presParOf" srcId="{16FFB47C-0795-8949-9334-EE6E0E254F2E}" destId="{E603526D-BB12-AD4A-862B-195E6D3E3B6E}" srcOrd="0" destOrd="0" presId="urn:microsoft.com/office/officeart/2005/8/layout/process1"/>
    <dgm:cxn modelId="{73AB6523-FA25-2B47-A4D3-BB1D9E5CFCD2}" type="presParOf" srcId="{DC2C2A3D-FF4E-EC44-B60A-9B1314842CFA}" destId="{A30FD74A-BE53-374B-94F6-662140CBB658}" srcOrd="4" destOrd="0" presId="urn:microsoft.com/office/officeart/2005/8/layout/process1"/>
    <dgm:cxn modelId="{939A2408-2709-6B43-925C-AFA1FE05CCDB}" type="presParOf" srcId="{DC2C2A3D-FF4E-EC44-B60A-9B1314842CFA}" destId="{38458C21-545B-864A-88F6-CDAB12697035}" srcOrd="5" destOrd="0" presId="urn:microsoft.com/office/officeart/2005/8/layout/process1"/>
    <dgm:cxn modelId="{9D34FF1B-F45A-094E-A61C-C4769C90C958}" type="presParOf" srcId="{38458C21-545B-864A-88F6-CDAB12697035}" destId="{1AA1285C-550E-EB48-AE0D-DE1562E224AD}" srcOrd="0" destOrd="0" presId="urn:microsoft.com/office/officeart/2005/8/layout/process1"/>
    <dgm:cxn modelId="{367B714E-CA7A-014E-B8E1-5BA1DEFB9211}" type="presParOf" srcId="{DC2C2A3D-FF4E-EC44-B60A-9B1314842CFA}" destId="{42ABC28C-D74F-9B4B-9D11-B89D6BB2B183}" srcOrd="6" destOrd="0" presId="urn:microsoft.com/office/officeart/2005/8/layout/process1"/>
    <dgm:cxn modelId="{C7CEE0C4-1E45-8540-9608-E47A3F402029}" type="presParOf" srcId="{DC2C2A3D-FF4E-EC44-B60A-9B1314842CFA}" destId="{A9B2DC37-008C-D44F-BF09-D8FB77B5979B}" srcOrd="7" destOrd="0" presId="urn:microsoft.com/office/officeart/2005/8/layout/process1"/>
    <dgm:cxn modelId="{4D6514B9-0F7D-F547-91CE-9540C2654671}" type="presParOf" srcId="{A9B2DC37-008C-D44F-BF09-D8FB77B5979B}" destId="{A99CBB33-AFA3-1F45-BC96-15CBED97C649}" srcOrd="0" destOrd="0" presId="urn:microsoft.com/office/officeart/2005/8/layout/process1"/>
    <dgm:cxn modelId="{CA72A19A-4AB0-A24D-AD72-6873E8102AC5}" type="presParOf" srcId="{DC2C2A3D-FF4E-EC44-B60A-9B1314842CFA}" destId="{7F1E47C3-0646-C941-A5F6-EE5A3C6CA70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0AEEEF-C5E6-5444-B7E3-68D187187991}">
      <dsp:nvSpPr>
        <dsp:cNvPr id="0" name=""/>
        <dsp:cNvSpPr/>
      </dsp:nvSpPr>
      <dsp:spPr>
        <a:xfrm>
          <a:off x="5318" y="713128"/>
          <a:ext cx="1648666" cy="214841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HeatQuest is a mobile app that turns citizens into climate activists.</a:t>
          </a:r>
          <a:endParaRPr lang="en-US" sz="1400" kern="1200"/>
        </a:p>
      </dsp:txBody>
      <dsp:txXfrm>
        <a:off x="53606" y="761416"/>
        <a:ext cx="1552090" cy="2051842"/>
      </dsp:txXfrm>
    </dsp:sp>
    <dsp:sp modelId="{F33850C6-BE56-AD41-A616-61E07BA706FA}">
      <dsp:nvSpPr>
        <dsp:cNvPr id="0" name=""/>
        <dsp:cNvSpPr/>
      </dsp:nvSpPr>
      <dsp:spPr>
        <a:xfrm>
          <a:off x="1818851" y="1582902"/>
          <a:ext cx="349517" cy="4088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1818851" y="1664676"/>
        <a:ext cx="244662" cy="245321"/>
      </dsp:txXfrm>
    </dsp:sp>
    <dsp:sp modelId="{2B565A69-BC16-D24D-B365-38C062BE30FC}">
      <dsp:nvSpPr>
        <dsp:cNvPr id="0" name=""/>
        <dsp:cNvSpPr/>
      </dsp:nvSpPr>
      <dsp:spPr>
        <a:xfrm>
          <a:off x="2313451" y="713128"/>
          <a:ext cx="1648666" cy="214841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DETECT:</a:t>
          </a:r>
          <a:r>
            <a:rPr lang="en-US" sz="1400" b="0" i="0" kern="1200" baseline="0"/>
            <a:t> A user scans any location. Our </a:t>
          </a:r>
          <a:r>
            <a:rPr lang="en-US" sz="1400" b="1" i="0" kern="1200" baseline="0"/>
            <a:t>FastAPI</a:t>
          </a:r>
          <a:r>
            <a:rPr lang="en-US" sz="1400" b="0" i="0" kern="1200" baseline="0"/>
            <a:t> backend performs a live analysis, pulling </a:t>
          </a:r>
          <a:r>
            <a:rPr lang="en-US" sz="1400" b="1" i="0" kern="1200" baseline="0"/>
            <a:t>Landsat</a:t>
          </a:r>
          <a:r>
            <a:rPr lang="en-US" sz="1400" b="0" i="0" kern="1200" baseline="0"/>
            <a:t> (Temperature) and </a:t>
          </a:r>
          <a:r>
            <a:rPr lang="en-US" sz="1400" b="1" i="0" kern="1200" baseline="0"/>
            <a:t>Sentinel-2</a:t>
          </a:r>
          <a:r>
            <a:rPr lang="en-US" sz="1400" b="0" i="0" kern="1200" baseline="0"/>
            <a:t> (Vegetation) data.</a:t>
          </a:r>
          <a:endParaRPr lang="en-US" sz="1400" kern="1200"/>
        </a:p>
      </dsp:txBody>
      <dsp:txXfrm>
        <a:off x="2361739" y="761416"/>
        <a:ext cx="1552090" cy="2051842"/>
      </dsp:txXfrm>
    </dsp:sp>
    <dsp:sp modelId="{16FFB47C-0795-8949-9334-EE6E0E254F2E}">
      <dsp:nvSpPr>
        <dsp:cNvPr id="0" name=""/>
        <dsp:cNvSpPr/>
      </dsp:nvSpPr>
      <dsp:spPr>
        <a:xfrm>
          <a:off x="4126985" y="1582902"/>
          <a:ext cx="349517" cy="4088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126985" y="1664676"/>
        <a:ext cx="244662" cy="245321"/>
      </dsp:txXfrm>
    </dsp:sp>
    <dsp:sp modelId="{A30FD74A-BE53-374B-94F6-662140CBB658}">
      <dsp:nvSpPr>
        <dsp:cNvPr id="0" name=""/>
        <dsp:cNvSpPr/>
      </dsp:nvSpPr>
      <dsp:spPr>
        <a:xfrm>
          <a:off x="4621585" y="713128"/>
          <a:ext cx="1648666" cy="214841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CALCULATE:</a:t>
          </a:r>
          <a:r>
            <a:rPr lang="en-US" sz="1400" b="0" i="0" kern="1200" baseline="0"/>
            <a:t> Our Python pipeline creates a high-res grid and calculates a scientific heat_score (Temp - [0.3 * NDVI]) for every cell.</a:t>
          </a:r>
          <a:endParaRPr lang="en-US" sz="1400" kern="1200"/>
        </a:p>
      </dsp:txBody>
      <dsp:txXfrm>
        <a:off x="4669873" y="761416"/>
        <a:ext cx="1552090" cy="2051842"/>
      </dsp:txXfrm>
    </dsp:sp>
    <dsp:sp modelId="{38458C21-545B-864A-88F6-CDAB12697035}">
      <dsp:nvSpPr>
        <dsp:cNvPr id="0" name=""/>
        <dsp:cNvSpPr/>
      </dsp:nvSpPr>
      <dsp:spPr>
        <a:xfrm>
          <a:off x="6435118" y="1582902"/>
          <a:ext cx="349517" cy="4088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6435118" y="1664676"/>
        <a:ext cx="244662" cy="245321"/>
      </dsp:txXfrm>
    </dsp:sp>
    <dsp:sp modelId="{42ABC28C-D74F-9B4B-9D11-B89D6BB2B183}">
      <dsp:nvSpPr>
        <dsp:cNvPr id="0" name=""/>
        <dsp:cNvSpPr/>
      </dsp:nvSpPr>
      <dsp:spPr>
        <a:xfrm>
          <a:off x="6929718" y="713128"/>
          <a:ext cx="1648666" cy="214841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ANALYZE:</a:t>
          </a:r>
          <a:r>
            <a:rPr lang="en-US" sz="1400" b="0" i="0" kern="1200" baseline="0"/>
            <a:t> The data is fed to </a:t>
          </a:r>
          <a:r>
            <a:rPr lang="en-US" sz="1400" b="1" i="0" kern="1200" baseline="0"/>
            <a:t>Vertex AI (Gemini)</a:t>
          </a:r>
          <a:r>
            <a:rPr lang="en-US" sz="1400" b="0" i="0" kern="1200" baseline="0"/>
            <a:t>, which analyzes </a:t>
          </a:r>
          <a:r>
            <a:rPr lang="en-US" sz="1400" b="0" i="1" kern="1200" baseline="0"/>
            <a:t>why</a:t>
          </a:r>
          <a:r>
            <a:rPr lang="en-US" sz="1400" b="0" i="0" kern="1200" baseline="0"/>
            <a:t> it's a hotspot (e.g., "paved surface").</a:t>
          </a:r>
          <a:endParaRPr lang="en-US" sz="1400" kern="1200"/>
        </a:p>
      </dsp:txBody>
      <dsp:txXfrm>
        <a:off x="6978006" y="761416"/>
        <a:ext cx="1552090" cy="2051842"/>
      </dsp:txXfrm>
    </dsp:sp>
    <dsp:sp modelId="{A9B2DC37-008C-D44F-BF09-D8FB77B5979B}">
      <dsp:nvSpPr>
        <dsp:cNvPr id="0" name=""/>
        <dsp:cNvSpPr/>
      </dsp:nvSpPr>
      <dsp:spPr>
        <a:xfrm>
          <a:off x="8743251" y="1582902"/>
          <a:ext cx="349517" cy="40886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8743251" y="1664676"/>
        <a:ext cx="244662" cy="245321"/>
      </dsp:txXfrm>
    </dsp:sp>
    <dsp:sp modelId="{7F1E47C3-0646-C941-A5F6-EE5A3C6CA70E}">
      <dsp:nvSpPr>
        <dsp:cNvPr id="0" name=""/>
        <dsp:cNvSpPr/>
      </dsp:nvSpPr>
      <dsp:spPr>
        <a:xfrm>
          <a:off x="9237851" y="713128"/>
          <a:ext cx="1648666" cy="214841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ACT:</a:t>
          </a:r>
          <a:r>
            <a:rPr lang="en-US" sz="1400" b="0" i="0" kern="1200" baseline="0"/>
            <a:t> The AI generates a "climate mission" (e.g., "Asphalt Avenger!") which is saved to our </a:t>
          </a:r>
          <a:r>
            <a:rPr lang="en-US" sz="1400" b="1" i="0" kern="1200" baseline="0"/>
            <a:t>Supabase</a:t>
          </a:r>
          <a:r>
            <a:rPr lang="en-US" sz="1400" b="0" i="0" kern="1200" baseline="0"/>
            <a:t> database for the user to complete.</a:t>
          </a:r>
          <a:endParaRPr lang="en-US" sz="1400" kern="1200"/>
        </a:p>
      </dsp:txBody>
      <dsp:txXfrm>
        <a:off x="9286139" y="761416"/>
        <a:ext cx="1552090" cy="20518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C4F9-5EE7-47B7-B965-368EB53A4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181099"/>
            <a:ext cx="6864724" cy="3581399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A4A1F1-374F-4FC8-89F7-83065EA4F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075227"/>
            <a:ext cx="6864724" cy="868374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5CB5F-AE9B-4C02-B16F-C462CAFC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B1CC-830B-4695-B174-D9E9100A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D43F-E516-4123-A6D8-DB72C3CC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2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F197-4D72-4945-8068-57D52018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81FA8-039D-4BAF-8AAB-7B6616AFE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57F-46A1-493A-A5E4-1D7FAE5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277BC-26F9-4B14-A2DC-C7575C5A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C3FF-EE25-45FB-A7A8-AAA522F7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2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96BE-9AF9-4E97-9204-5B672D797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362200"/>
            <a:ext cx="7696200" cy="24003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DF98A-E8AE-4443-9A8C-CB35DEB2C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5067300"/>
            <a:ext cx="7696200" cy="8763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7114B-35CB-40C5-BCC8-C5039524F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AA324-982E-42C4-8002-5F236877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1596-9353-4C1A-972E-6522F2B4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5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F0BC9-7469-437A-B92B-0A2627E4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7D887-595C-4649-AF8E-E78307000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25625"/>
            <a:ext cx="4991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FE29C-ED37-4DD9-949F-002434261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029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AA34-8CC0-4E5B-8396-0AC756331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F7398-73FE-4D27-AFF9-91BEBFED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00880-10EE-4115-8BBB-13DDF270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72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F3C9B-D20D-43FA-BA18-D50F86A9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699"/>
            <a:ext cx="10625229" cy="11506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2F00A-F4EE-40FC-9325-373840422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863" y="1879599"/>
            <a:ext cx="5157787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5DD90-A306-4A8B-A54C-8033B7F7F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863" y="2560955"/>
            <a:ext cx="5157787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0E0AA-F8F8-4862-B27B-50FAF2F34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412" y="1879599"/>
            <a:ext cx="5183188" cy="675641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EBDD6-EDA1-4CE7-9DDC-9D977E12D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412" y="2560955"/>
            <a:ext cx="5183188" cy="3649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044487-D350-4434-A5C7-A96942FF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9DC43-E591-42BF-82EE-E4887E4BC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CD421-2D00-41DD-A393-4739E389D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1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9A8B-0FAF-431C-9657-9003FA03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BA2A1-331D-40F8-867B-CE150113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995C1-5121-47B6-AC6D-F60C0FF6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BE022-9B54-431C-80D5-5D8F2AFC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4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15B6E5-6347-41F6-85FC-3BF3652D1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A93F6-45F8-4453-B5DC-B2F3D5D0B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E364E1-213B-4AF0-80D7-8101EFD5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93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0B5D-E76D-4797-AD77-15625D67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44D8D-C9CF-43B2-905D-2368B17A5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188" y="914400"/>
            <a:ext cx="5737412" cy="50291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4BF0C-D14C-46D7-ACDD-1885DDD88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79"/>
            <a:ext cx="4119654" cy="32461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D7D8D-72E7-4ABD-BB87-80BB49003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9C1CE-C8CE-4364-A021-ADC2D647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6FA33-09EF-495A-853E-63750CA37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023E-952E-40DF-A101-74D22789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2" y="647700"/>
            <a:ext cx="4119654" cy="171450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E98DD-BF5D-4CCA-8C66-F2A6CE112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86400" y="914400"/>
            <a:ext cx="5791200" cy="50291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C22A6-F2C2-4A88-BEE5-2D6CEB520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372" y="2697480"/>
            <a:ext cx="4119654" cy="31715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1F755-C7AF-4C50-8CA8-828612A76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DE175-E818-477C-A3F6-7DD65C12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0B8E3-DB91-440B-818F-71E4248B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8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C0AF-44D0-4830-AF13-49B8522B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B4D8C-6045-47B3-9A0C-F2215A904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A9F1-F398-416A-A8C0-0A36D838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7F801-C9FB-4A34-8386-BA9FBACC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05176-F6E9-4997-8355-74F2A4560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79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EBC807-13E1-4F3F-83FA-FD9BD24F3B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86520" y="647699"/>
            <a:ext cx="229108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E2EAA-155E-482E-A2B8-547653B25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52371" y="647699"/>
            <a:ext cx="8120789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A4BDC-BDD0-417D-AF7C-516EE556D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663EC-23F9-4202-80F3-F8E55088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8402D-7367-485B-AEA6-5AB2B820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5EB7D6-B8CB-49E3-874F-2255BEE82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371" y="647700"/>
            <a:ext cx="10625229" cy="11470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EEAC5-A8AB-4FE8-A270-D70F7DED4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371" y="2095500"/>
            <a:ext cx="10620855" cy="3848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6506C-52BF-4C05-AD31-7C08B8015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2371" y="6332538"/>
            <a:ext cx="30064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D341B595-366B-43E2-A22E-EA6A78C03F06}" type="datetimeFigureOut">
              <a:rPr lang="en-US" smtClean="0"/>
              <a:t>11/9/25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4630-6C67-4A40-A499-CB025B243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34169" y="6332538"/>
            <a:ext cx="35054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4E14B-0EE8-4015-809C-DD36B5459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44747" y="6332538"/>
            <a:ext cx="5398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spc="100" baseline="0">
                <a:solidFill>
                  <a:schemeClr val="tx1"/>
                </a:solidFill>
              </a:defRPr>
            </a:lvl1pPr>
          </a:lstStyle>
          <a:p>
            <a:fld id="{4BA915EE-10CB-4CF1-8569-6154455DA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81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24" r:id="rId6"/>
    <p:sldLayoutId id="2147483719" r:id="rId7"/>
    <p:sldLayoutId id="2147483720" r:id="rId8"/>
    <p:sldLayoutId id="2147483721" r:id="rId9"/>
    <p:sldLayoutId id="2147483723" r:id="rId10"/>
    <p:sldLayoutId id="2147483722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600" kern="1200" cap="all" spc="300" baseline="0">
          <a:solidFill>
            <a:srgbClr val="FFFFFF"/>
          </a:solidFill>
          <a:highlight>
            <a:srgbClr val="0000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SzPct val="7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8C5A24-0D67-4D91-A8AB-79267D9CC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0EE8D-BA0E-1A81-1B05-8C11E750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077" b="1136"/>
          <a:stretch>
            <a:fillRect/>
          </a:stretch>
        </p:blipFill>
        <p:spPr>
          <a:xfrm>
            <a:off x="0" y="289377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F1335F-97CE-4842-9A57-2B6A3F459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5040" y="235039"/>
            <a:ext cx="6858000" cy="638792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1CDA2-E472-1087-4EAE-14C9B47E4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1327354"/>
            <a:ext cx="5448300" cy="3435145"/>
          </a:xfrm>
        </p:spPr>
        <p:txBody>
          <a:bodyPr>
            <a:normAutofit/>
          </a:bodyPr>
          <a:lstStyle/>
          <a:p>
            <a:r>
              <a:rPr lang="en-GB" dirty="0" err="1"/>
              <a:t>HeatQuest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D4F40-07D2-79BC-5389-160E63400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0" y="5075227"/>
            <a:ext cx="5448299" cy="15570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100" b="1" dirty="0">
                <a:solidFill>
                  <a:srgbClr val="FFFFFF"/>
                </a:solidFill>
              </a:rPr>
              <a:t>AI-Powered Urban Heat Action</a:t>
            </a:r>
            <a:endParaRPr lang="en-GB" sz="11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GB" sz="1100" b="1" dirty="0">
                <a:solidFill>
                  <a:srgbClr val="FFFFFF"/>
                </a:solidFill>
              </a:rPr>
              <a:t>Team:</a:t>
            </a:r>
            <a:r>
              <a:rPr lang="en-GB" sz="1100" dirty="0">
                <a:solidFill>
                  <a:srgbClr val="FFFFFF"/>
                </a:solidFill>
              </a:rPr>
              <a:t> </a:t>
            </a:r>
            <a:r>
              <a:rPr lang="en-GB" sz="1100" dirty="0" err="1">
                <a:solidFill>
                  <a:srgbClr val="FFFFFF"/>
                </a:solidFill>
              </a:rPr>
              <a:t>Basīrah</a:t>
            </a:r>
            <a:r>
              <a:rPr lang="en-GB" sz="1100" dirty="0">
                <a:solidFill>
                  <a:srgbClr val="FFFFFF"/>
                </a:solidFill>
              </a:rPr>
              <a:t> AI </a:t>
            </a:r>
          </a:p>
          <a:p>
            <a:pPr>
              <a:lnSpc>
                <a:spcPct val="100000"/>
              </a:lnSpc>
            </a:pPr>
            <a:r>
              <a:rPr lang="en-GB" sz="1100" b="1" dirty="0">
                <a:solidFill>
                  <a:srgbClr val="FFFFFF"/>
                </a:solidFill>
              </a:rPr>
              <a:t>Problem:</a:t>
            </a:r>
            <a:r>
              <a:rPr lang="en-GB" sz="1100" dirty="0">
                <a:solidFill>
                  <a:srgbClr val="FFFFFF"/>
                </a:solidFill>
              </a:rPr>
              <a:t> Urban heat is a critical inequality issue, disproportionately affecting vulnerable communities.</a:t>
            </a:r>
            <a:endParaRPr lang="en-US" sz="1100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</a:rPr>
              <a:t>Team member: Jabed Hossain , Eduan </a:t>
            </a:r>
            <a:r>
              <a:rPr lang="en-US" sz="1100" dirty="0" err="1">
                <a:solidFill>
                  <a:srgbClr val="FFFFFF"/>
                </a:solidFill>
              </a:rPr>
              <a:t>Roci</a:t>
            </a:r>
            <a:r>
              <a:rPr lang="en-US" sz="1100" dirty="0">
                <a:solidFill>
                  <a:srgbClr val="FFFFFF"/>
                </a:solidFill>
              </a:rPr>
              <a:t> and Shahmeer Ali</a:t>
            </a:r>
          </a:p>
          <a:p>
            <a:pPr>
              <a:lnSpc>
                <a:spcPct val="100000"/>
              </a:lnSpc>
            </a:pPr>
            <a:endParaRPr lang="en-GB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9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90E1A7D-E37F-4622-979D-188B434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F4EED4-9D48-B42E-061C-4B4B94F9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14399"/>
            <a:ext cx="8396345" cy="892885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What It Does: Detect, </a:t>
            </a:r>
            <a:r>
              <a:rPr lang="en-US" sz="2800" dirty="0" err="1">
                <a:solidFill>
                  <a:schemeClr val="tx1"/>
                </a:solidFill>
              </a:rPr>
              <a:t>Analyse</a:t>
            </a:r>
            <a:r>
              <a:rPr lang="en-US" sz="2800" dirty="0">
                <a:solidFill>
                  <a:schemeClr val="tx1"/>
                </a:solidFill>
              </a:rPr>
              <a:t>, Act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73A6381-40A6-4DA4-E908-F8341EC1F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102514"/>
              </p:ext>
            </p:extLst>
          </p:nvPr>
        </p:nvGraphicFramePr>
        <p:xfrm>
          <a:off x="652463" y="2635624"/>
          <a:ext cx="10891837" cy="3574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574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E3019-56E9-7EAC-B918-6209E3ACA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We Built It: The "Smart Cache"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6A828-6249-A7FF-B3EC-0580E5479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Our biggest challenge was a 30-40 second API lag for live analysis. We solved it with a "Smart Community Cache."</a:t>
            </a:r>
          </a:p>
          <a:p>
            <a:r>
              <a:rPr lang="en-GB" b="1" dirty="0"/>
              <a:t>User 1 (New Scan):</a:t>
            </a:r>
            <a:r>
              <a:rPr lang="en-GB" dirty="0"/>
              <a:t> Triggers the full 30-second analysis. Results are saved to our </a:t>
            </a:r>
            <a:r>
              <a:rPr lang="en-GB" b="1" dirty="0" err="1"/>
              <a:t>Supabase</a:t>
            </a:r>
            <a:r>
              <a:rPr lang="en-GB" dirty="0"/>
              <a:t> parent/child tables.</a:t>
            </a:r>
          </a:p>
          <a:p>
            <a:r>
              <a:rPr lang="en-GB" b="1" dirty="0"/>
              <a:t>User 2 (Same Area):</a:t>
            </a:r>
            <a:r>
              <a:rPr lang="en-GB" dirty="0"/>
              <a:t> Our </a:t>
            </a:r>
            <a:r>
              <a:rPr lang="en-GB" b="1" dirty="0" err="1"/>
              <a:t>FastAPI</a:t>
            </a:r>
            <a:r>
              <a:rPr lang="en-GB" dirty="0"/>
              <a:t> backend finds the cached data and delivers an </a:t>
            </a:r>
            <a:r>
              <a:rPr lang="en-GB" b="1" dirty="0"/>
              <a:t>instant (&lt;0.5s) response</a:t>
            </a:r>
            <a:r>
              <a:rPr lang="en-GB" dirty="0"/>
              <a:t>.</a:t>
            </a:r>
          </a:p>
          <a:p>
            <a:r>
              <a:rPr lang="en-GB" b="1" dirty="0"/>
              <a:t>Result:</a:t>
            </a:r>
            <a:r>
              <a:rPr lang="en-GB" dirty="0"/>
              <a:t> A scalable app that feels fast and builds a shared community map.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917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27E7-AAF0-E4AD-1AFA-9916EFCC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Our Tech Stack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91E21-3144-D2EB-C839-BD7F70D41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E9DBC919-6F3D-613C-B076-AB38B6616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06" y="2072679"/>
            <a:ext cx="96301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built a full-stack, production-ready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(Python)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&amp; Auth: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Supabase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(PostgreSQL)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Engine: Google Cloud Vertex AI (Gemini 1.5 Flash)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 React (Vite + TypeScript),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ShadCN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/UI, Framer Motion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Mapping: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Mapbox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React-Leaflet, Folium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Science: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GeoPandas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Rasterio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Shapely,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Pyproj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Infrastructure: AWS S3 (for Landsat),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Pydantic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C004B9E-EECE-1ED3-B637-C23E67A59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3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784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3A8B-012B-5916-434D-E19B6903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The Vision: An "Impact-as-a-Service" Platform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E3A29-00D0-35BB-C462-CFD43F8CB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Our system is built to scale from a game to a global green economy.</a:t>
            </a:r>
          </a:p>
          <a:p>
            <a:r>
              <a:rPr lang="en-GB" b="1" dirty="0"/>
              <a:t>B2C:</a:t>
            </a:r>
            <a:r>
              <a:rPr lang="en-GB" dirty="0"/>
              <a:t> Partner with organizations to </a:t>
            </a:r>
            <a:r>
              <a:rPr lang="en-GB" b="1" dirty="0"/>
              <a:t>sponsor missions</a:t>
            </a:r>
            <a:r>
              <a:rPr lang="en-GB" dirty="0"/>
              <a:t>, allowing users to earn real-world rewards for completing tasks.</a:t>
            </a:r>
          </a:p>
          <a:p>
            <a:r>
              <a:rPr lang="en-GB" b="1" dirty="0"/>
              <a:t>B2G:</a:t>
            </a:r>
            <a:r>
              <a:rPr lang="en-GB" dirty="0"/>
              <a:t> Sell our "Smart Cache" API as a dashboard to city governments in </a:t>
            </a:r>
            <a:r>
              <a:rPr lang="en-GB" b="1" dirty="0"/>
              <a:t>low-income countries</a:t>
            </a:r>
            <a:r>
              <a:rPr lang="en-GB" dirty="0"/>
              <a:t> to help them find and fix heat islands.</a:t>
            </a:r>
          </a:p>
          <a:p>
            <a:r>
              <a:rPr lang="en-GB" b="1" dirty="0"/>
              <a:t>Data-Driven Proof:</a:t>
            </a:r>
            <a:r>
              <a:rPr lang="en-GB" dirty="0"/>
              <a:t> We will </a:t>
            </a:r>
            <a:r>
              <a:rPr lang="en-GB" b="1" dirty="0"/>
              <a:t>re-scan</a:t>
            </a:r>
            <a:r>
              <a:rPr lang="en-GB" dirty="0"/>
              <a:t> completed mission areas to </a:t>
            </a:r>
            <a:r>
              <a:rPr lang="en-GB" i="1" dirty="0"/>
              <a:t>prove</a:t>
            </a:r>
            <a:r>
              <a:rPr lang="en-GB" dirty="0"/>
              <a:t> our users' actions lowered the </a:t>
            </a:r>
            <a:r>
              <a:rPr lang="en-GB" dirty="0" err="1"/>
              <a:t>heat_score</a:t>
            </a:r>
            <a:r>
              <a:rPr lang="en-GB" dirty="0"/>
              <a:t>, providing real ROI to our partners.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471106"/>
      </p:ext>
    </p:extLst>
  </p:cSld>
  <p:clrMapOvr>
    <a:masterClrMapping/>
  </p:clrMapOvr>
</p:sld>
</file>

<file path=ppt/theme/theme1.xml><?xml version="1.0" encoding="utf-8"?>
<a:theme xmlns:a="http://schemas.openxmlformats.org/drawingml/2006/main" name="CitationVTI">
  <a:themeElements>
    <a:clrScheme name="Citation">
      <a:dk1>
        <a:sysClr val="windowText" lastClr="000000"/>
      </a:dk1>
      <a:lt1>
        <a:sysClr val="window" lastClr="FFFFFF"/>
      </a:lt1>
      <a:dk2>
        <a:srgbClr val="01375D"/>
      </a:dk2>
      <a:lt2>
        <a:srgbClr val="F3F2EF"/>
      </a:lt2>
      <a:accent1>
        <a:srgbClr val="29A3D2"/>
      </a:accent1>
      <a:accent2>
        <a:srgbClr val="0669AC"/>
      </a:accent2>
      <a:accent3>
        <a:srgbClr val="FD891C"/>
      </a:accent3>
      <a:accent4>
        <a:srgbClr val="FD6927"/>
      </a:accent4>
      <a:accent5>
        <a:srgbClr val="F95131"/>
      </a:accent5>
      <a:accent6>
        <a:srgbClr val="CE5FAE"/>
      </a:accent6>
      <a:hlink>
        <a:srgbClr val="0F8EC1"/>
      </a:hlink>
      <a:folHlink>
        <a:srgbClr val="DC6400"/>
      </a:folHlink>
    </a:clrScheme>
    <a:fontScheme name="Grandview">
      <a:majorFont>
        <a:latin typeface="Grandview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tationVTI" id="{4899D957-8B31-4AB5-A19D-CB0353FFB667}" vid="{430294D6-2412-4BD3-B567-F0976EA4931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438</Words>
  <Application>Microsoft Macintosh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Grandview</vt:lpstr>
      <vt:lpstr>Grandview Display</vt:lpstr>
      <vt:lpstr>CitationVTI</vt:lpstr>
      <vt:lpstr>HeatQuest</vt:lpstr>
      <vt:lpstr>What It Does: Detect, Analyse, Act</vt:lpstr>
      <vt:lpstr>How We Built It: The "Smart Cache"</vt:lpstr>
      <vt:lpstr>Our Tech Stack</vt:lpstr>
      <vt:lpstr>The Vision: An "Impact-as-a-Service" Platform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Jabed Hossain</dc:creator>
  <cp:lastModifiedBy>Jabed Hossain</cp:lastModifiedBy>
  <cp:revision>2</cp:revision>
  <dcterms:created xsi:type="dcterms:W3CDTF">2025-11-09T14:55:03Z</dcterms:created>
  <dcterms:modified xsi:type="dcterms:W3CDTF">2025-11-09T16:59:52Z</dcterms:modified>
</cp:coreProperties>
</file>